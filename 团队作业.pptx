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2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822" r:id="rId3"/>
    <p:sldId id="823" r:id="rId4"/>
    <p:sldId id="824" r:id="rId5"/>
    <p:sldId id="830" r:id="rId6"/>
    <p:sldId id="832" r:id="rId7"/>
    <p:sldId id="836" r:id="rId8"/>
    <p:sldId id="835" r:id="rId9"/>
    <p:sldId id="833" r:id="rId10"/>
    <p:sldId id="834" r:id="rId11"/>
    <p:sldId id="837" r:id="rId12"/>
    <p:sldId id="839" r:id="rId13"/>
    <p:sldId id="838" r:id="rId14"/>
    <p:sldId id="842" r:id="rId15"/>
    <p:sldId id="841" r:id="rId16"/>
    <p:sldId id="840" r:id="rId17"/>
    <p:sldId id="831" r:id="rId18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EC782A0-D5D3-480F-8DDF-1BF1EBC68B32}">
          <p14:sldIdLst>
            <p14:sldId id="256"/>
            <p14:sldId id="822"/>
            <p14:sldId id="823"/>
            <p14:sldId id="824"/>
            <p14:sldId id="830"/>
            <p14:sldId id="832"/>
            <p14:sldId id="836"/>
            <p14:sldId id="835"/>
            <p14:sldId id="833"/>
            <p14:sldId id="834"/>
            <p14:sldId id="837"/>
            <p14:sldId id="839"/>
            <p14:sldId id="838"/>
            <p14:sldId id="842"/>
            <p14:sldId id="841"/>
            <p14:sldId id="840"/>
            <p14:sldId id="83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3E75"/>
    <a:srgbClr val="FBF3F9"/>
    <a:srgbClr val="F5E3F1"/>
    <a:srgbClr val="F7E9F4"/>
    <a:srgbClr val="EED2E9"/>
    <a:srgbClr val="782E6A"/>
    <a:srgbClr val="DEB4D3"/>
    <a:srgbClr val="763365"/>
    <a:srgbClr val="602A52"/>
    <a:srgbClr val="B486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09" autoAdjust="0"/>
    <p:restoredTop sz="75334" autoAdjust="0"/>
  </p:normalViewPr>
  <p:slideViewPr>
    <p:cSldViewPr snapToGrid="0">
      <p:cViewPr varScale="1">
        <p:scale>
          <a:sx n="80" d="100"/>
          <a:sy n="80" d="100"/>
        </p:scale>
        <p:origin x="8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4EB27-F56E-4B38-A64D-77E916C7E3C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F0C2E0-DB0F-47C5-A43C-C8ACA6B325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0C2E0-DB0F-47C5-A43C-C8ACA6B3255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225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0C2E0-DB0F-47C5-A43C-C8ACA6B3255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536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C81B6-D5D0-ECDE-56E5-1E74BFD06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2BEEA4-73FB-B0A0-283C-DCA7DCF8B3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65FDE8-0511-7F09-4DDE-C6CB736DB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D2EDCF-AC2F-CD49-1809-713BC8982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0C2E0-DB0F-47C5-A43C-C8ACA6B3255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583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B9686-6F6C-5440-6591-DB18B2C20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7874B7-6B56-C5DA-18E6-B072AA37DC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7F0524-FE6E-A4D1-F8B4-1B23F1BED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A9BDD5-4733-5189-CADA-77532F723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0C2E0-DB0F-47C5-A43C-C8ACA6B3255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308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1965C-14B2-02F2-A43E-B1773D12E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B7F84F-7F7E-D2CD-ABE4-E83F64AE1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69EBAF-78B6-C51C-032E-58EA4BB23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986A1-697E-E36C-4E0F-27B3B34597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0C2E0-DB0F-47C5-A43C-C8ACA6B3255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677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7F014-4C0D-F333-E945-25403B1FD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F5DA8F-0022-2A11-E38F-6F7C2DFC0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86E9AC-FAB2-6744-2023-0ED3F5885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5F9BB1-2AF4-A277-CA62-E619FE106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0C2E0-DB0F-47C5-A43C-C8ACA6B3255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407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7E375-445B-6F2B-AB30-AE7854F5B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D4D684-2BEF-2B16-E7F1-48FDDED65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19F682-A4DE-0613-BD61-0FEEF746D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680FC1-539E-950F-6702-F16C00C09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0C2E0-DB0F-47C5-A43C-C8ACA6B3255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463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01270-1C7E-8DD6-8F86-D802F420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139F53-9A7E-792D-14B0-CF23B9BEA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3B6968-F5EE-DA74-0F3E-9F178A226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C0C578-7A77-D0B2-E1B0-4CBC04664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0C2E0-DB0F-47C5-A43C-C8ACA6B3255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2482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34140-F8A1-5AF5-9718-73502B734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B5E93B-5553-7F3B-2326-3C8CFA3C4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D25BE4-7A4E-93AE-031D-3269589CF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235350-8578-A75C-79E2-386AFE56A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0C2E0-DB0F-47C5-A43C-C8ACA6B3255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5521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D1F0D-9B73-345A-AA81-F941FD69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82D1C9-25D9-D01D-BFB6-EDA143E93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544183-55C5-3A65-B9FB-1DC342541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F7BAEA-30BC-89E0-D16F-E21392F197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0C2E0-DB0F-47C5-A43C-C8ACA6B3255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953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63261-E4EE-AE94-65B1-1AC827184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F3FBFA-5F1E-0BBB-670B-0B8C0BEFD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F0B205-D6A6-5ADF-1AB1-F3413EDDA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61AC68-4B33-81DF-B4C6-8DE10EAE03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0C2E0-DB0F-47C5-A43C-C8ACA6B3255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063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B14C1-30BE-EBBF-37E2-EE9872375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7D3AC0-791B-02B9-34DC-40F5862B5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02CF69-072E-221A-62EC-AAAB2A921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8A78C8-1A19-0EC8-F0A5-EA900E811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0C2E0-DB0F-47C5-A43C-C8ACA6B3255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3386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50A1D-AC97-589C-3541-5DC8B1846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D50F79-FB18-CAEC-E6CD-EAC6C8C292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79912F-A107-B2FC-0EED-555589D89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59D2D2-F722-B050-F458-1584ED2B9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0C2E0-DB0F-47C5-A43C-C8ACA6B3255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826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590"/>
          <a:stretch>
            <a:fillRect/>
          </a:stretch>
        </p:blipFill>
        <p:spPr>
          <a:xfrm>
            <a:off x="1" y="0"/>
            <a:ext cx="1491916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3137" y="0"/>
            <a:ext cx="1491917" cy="6858000"/>
          </a:xfrm>
          <a:prstGeom prst="rect">
            <a:avLst/>
          </a:prstGeom>
          <a:solidFill>
            <a:srgbClr val="782E6A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61083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735824" y="732495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278" y="123098"/>
            <a:ext cx="1022564" cy="102256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EFD8153-04B7-FA14-93AC-0E780E77E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6193" y="133100"/>
            <a:ext cx="8569349" cy="501280"/>
          </a:xfrm>
        </p:spPr>
        <p:txBody>
          <a:bodyPr/>
          <a:lstStyle>
            <a:lvl1pPr>
              <a:defRPr sz="2400" b="1">
                <a:solidFill>
                  <a:srgbClr val="823E75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D98BA2-C128-0064-D880-42A681D18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381F0C-C3ED-C0DC-B5A6-73C63DBFC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3B0E05-5352-6866-7D64-FE15EFD80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25FC96-4BEB-4BF6-BF7B-166471207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651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51D52-2092-47CA-95C8-A980C030BFB8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https://cellxgene.cziscience.com/collections/ff69f0ee-fef6-4895-9f48-6c64a68c8289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407" y="-747421"/>
            <a:ext cx="6901186" cy="6858000"/>
          </a:xfrm>
          <a:prstGeom prst="rect">
            <a:avLst/>
          </a:prstGeom>
          <a:effectLst/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6" t="32441" r="100" b="35502"/>
          <a:stretch>
            <a:fillRect/>
          </a:stretch>
        </p:blipFill>
        <p:spPr>
          <a:xfrm>
            <a:off x="0" y="4836159"/>
            <a:ext cx="12191999" cy="2124102"/>
          </a:xfrm>
          <a:prstGeom prst="rect">
            <a:avLst/>
          </a:prstGeom>
        </p:spPr>
      </p:pic>
      <p:sp>
        <p:nvSpPr>
          <p:cNvPr id="17" name="任意多边形: 形状 16"/>
          <p:cNvSpPr/>
          <p:nvPr/>
        </p:nvSpPr>
        <p:spPr>
          <a:xfrm>
            <a:off x="-3" y="4836159"/>
            <a:ext cx="12192000" cy="2142423"/>
          </a:xfrm>
          <a:prstGeom prst="rect">
            <a:avLst/>
          </a:prstGeom>
          <a:solidFill>
            <a:srgbClr val="782E6A">
              <a:alpha val="89000"/>
            </a:srgbClr>
          </a:solidFill>
          <a:ln>
            <a:solidFill>
              <a:srgbClr val="782E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61083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979532" y="2321004"/>
            <a:ext cx="62329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b="1" dirty="0">
                <a:solidFill>
                  <a:srgbClr val="9610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课程大作业提交</a:t>
            </a:r>
          </a:p>
        </p:txBody>
      </p:sp>
      <p:pic>
        <p:nvPicPr>
          <p:cNvPr id="12" name="图形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0579" y="150630"/>
            <a:ext cx="4313618" cy="1691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88152B-5FCD-DE00-C647-920916032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软件工程大作业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AA85DC-F946-7D99-DF6D-E303A81EDEE5}"/>
              </a:ext>
            </a:extLst>
          </p:cNvPr>
          <p:cNvSpPr txBox="1"/>
          <p:nvPr/>
        </p:nvSpPr>
        <p:spPr>
          <a:xfrm>
            <a:off x="1660064" y="1572714"/>
            <a:ext cx="6097604" cy="4205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开发一个面向单细胞高维向量数据的近似最近邻（</a:t>
            </a:r>
            <a:r>
              <a:rPr lang="en-US" altLang="zh-CN" dirty="0"/>
              <a:t>ANN</a:t>
            </a:r>
            <a:r>
              <a:rPr lang="zh-CN" altLang="en-US" dirty="0"/>
              <a:t>）检索系统，为大规模单细胞数据提供高效的相似样本检索能力。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系统支持单细胞数据的读取与预处理、精确检索与近似检索、多种索引结构管理、查询结果展示以及性能评测等功能。用户可以通过 </a:t>
            </a:r>
            <a:r>
              <a:rPr lang="en-US" altLang="zh-CN" dirty="0"/>
              <a:t>Web </a:t>
            </a:r>
            <a:r>
              <a:rPr lang="zh-CN" altLang="en-US" dirty="0"/>
              <a:t>页面输入查询细胞或查询向量，设置检索参数，获取 </a:t>
            </a:r>
            <a:r>
              <a:rPr lang="en-US" altLang="zh-CN" dirty="0"/>
              <a:t>top-k </a:t>
            </a:r>
            <a:r>
              <a:rPr lang="zh-CN" altLang="en-US" dirty="0"/>
              <a:t>相似结果，并查看查询耗时、索引状态和评测指标等信息。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F0F9C05-3D47-66FC-910C-8FBE9C63FF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842" r="50259" b="18671"/>
          <a:stretch>
            <a:fillRect/>
          </a:stretch>
        </p:blipFill>
        <p:spPr>
          <a:xfrm>
            <a:off x="7889214" y="1834977"/>
            <a:ext cx="4302786" cy="323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31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973B7-0A29-96CA-48E7-A0C22D542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FE169C-8C20-ABD2-9DCD-9D0A2A3AA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0D2951-768B-D7F9-5011-DA4C9B9BABDA}"/>
              </a:ext>
            </a:extLst>
          </p:cNvPr>
          <p:cNvSpPr txBox="1"/>
          <p:nvPr/>
        </p:nvSpPr>
        <p:spPr>
          <a:xfrm>
            <a:off x="1756193" y="3274340"/>
            <a:ext cx="60976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随着单细胞测序技术的发展，单细胞数据的规模不断扩大，一个实验往往可以产生数十万个细胞样本。经过数值化表示后，每个细胞都可以看作一个高维向量。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传统的精确最近邻搜索方法虽然能够返回准确结果，但在数据规模较大、维度较高的情况下，往往存在查询效率低、响应时间长、计算资源消耗大的问题。近似最近邻检索（</a:t>
            </a:r>
            <a:r>
              <a:rPr lang="en-US" altLang="zh-CN" dirty="0"/>
              <a:t>Approximate Nearest Neighbor, ANN</a:t>
            </a:r>
            <a:r>
              <a:rPr lang="zh-CN" altLang="en-US" dirty="0"/>
              <a:t>）技术能够在保证较高检索质量的同时显著降低查询开销，因此已广泛应用于图像搜索、推荐系统、语义检索等场景，也适合用于单细胞数据。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258E9FA-9F19-D206-111D-0E11DB4B5A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047" r="46687"/>
          <a:stretch>
            <a:fillRect/>
          </a:stretch>
        </p:blipFill>
        <p:spPr>
          <a:xfrm>
            <a:off x="7754681" y="1516189"/>
            <a:ext cx="4216063" cy="2915008"/>
          </a:xfrm>
          <a:prstGeom prst="rect">
            <a:avLst/>
          </a:prstGeom>
        </p:spPr>
      </p:pic>
      <p:sp>
        <p:nvSpPr>
          <p:cNvPr id="12" name="AutoShape 7">
            <a:extLst>
              <a:ext uri="{FF2B5EF4-FFF2-40B4-BE49-F238E27FC236}">
                <a16:creationId xmlns:a16="http://schemas.microsoft.com/office/drawing/2014/main" id="{02939B1A-C56A-EED5-1FB5-5069E59B5D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EE8DCA7-8F56-7121-CF68-467E07539B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775" r="44324"/>
          <a:stretch>
            <a:fillRect/>
          </a:stretch>
        </p:blipFill>
        <p:spPr>
          <a:xfrm>
            <a:off x="7754681" y="4548174"/>
            <a:ext cx="4385942" cy="1430903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65AB3BC-4A33-778B-5CD9-41CB943B4B45}"/>
              </a:ext>
            </a:extLst>
          </p:cNvPr>
          <p:cNvSpPr txBox="1"/>
          <p:nvPr/>
        </p:nvSpPr>
        <p:spPr>
          <a:xfrm>
            <a:off x="1756193" y="1516189"/>
            <a:ext cx="62323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把组织中的单个细胞分离出来，分别测量每个细胞内部的分子信息，再通过测序读出这些信息。测序完成后，可以统计每个细胞中各个基因的表达量，从而得到一个</a:t>
            </a:r>
            <a:r>
              <a:rPr lang="zh-CN" altLang="en-US" b="1" dirty="0">
                <a:solidFill>
                  <a:schemeClr val="tx2"/>
                </a:solidFill>
              </a:rPr>
              <a:t>“细胞 </a:t>
            </a:r>
            <a:r>
              <a:rPr lang="en-US" altLang="zh-CN" b="1" dirty="0">
                <a:solidFill>
                  <a:schemeClr val="tx2"/>
                </a:solidFill>
              </a:rPr>
              <a:t>× </a:t>
            </a:r>
            <a:r>
              <a:rPr lang="zh-CN" altLang="en-US" b="1" dirty="0">
                <a:solidFill>
                  <a:schemeClr val="tx2"/>
                </a:solidFill>
              </a:rPr>
              <a:t>基因”</a:t>
            </a:r>
            <a:r>
              <a:rPr lang="zh-CN" altLang="en-US" dirty="0"/>
              <a:t>的表达矩阵。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1332C12-A208-2A3D-5086-83F4CB026C0D}"/>
              </a:ext>
            </a:extLst>
          </p:cNvPr>
          <p:cNvSpPr txBox="1"/>
          <p:nvPr/>
        </p:nvSpPr>
        <p:spPr>
          <a:xfrm>
            <a:off x="1777432" y="1037223"/>
            <a:ext cx="3094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823E75"/>
                </a:solidFill>
              </a:rPr>
              <a:t>单细胞测序技术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CD02E86-C9A0-2DBB-172E-43DBA5D00985}"/>
              </a:ext>
            </a:extLst>
          </p:cNvPr>
          <p:cNvSpPr txBox="1"/>
          <p:nvPr/>
        </p:nvSpPr>
        <p:spPr>
          <a:xfrm>
            <a:off x="1756193" y="2795374"/>
            <a:ext cx="3094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823E75"/>
                </a:solidFill>
              </a:rPr>
              <a:t>近似最近邻检索</a:t>
            </a:r>
          </a:p>
        </p:txBody>
      </p:sp>
    </p:spTree>
    <p:extLst>
      <p:ext uri="{BB962C8B-B14F-4D97-AF65-F5344CB8AC3E}">
        <p14:creationId xmlns:p14="http://schemas.microsoft.com/office/powerpoint/2010/main" val="539333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36E69-6B71-08B1-7611-787C21088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A102ED-A3C7-F9C9-F1C0-B5917A47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功能模块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C100C1F-2AFD-EF6C-9B84-365198E4066F}"/>
              </a:ext>
            </a:extLst>
          </p:cNvPr>
          <p:cNvSpPr txBox="1"/>
          <p:nvPr/>
        </p:nvSpPr>
        <p:spPr>
          <a:xfrm>
            <a:off x="2043764" y="5386514"/>
            <a:ext cx="941029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823E75"/>
                </a:solidFill>
                <a:sym typeface="+mn-ea"/>
              </a:rPr>
              <a:t>用户信息模块</a:t>
            </a:r>
            <a:endParaRPr lang="en-US" altLang="zh-CN" sz="2000" b="1" dirty="0">
              <a:solidFill>
                <a:srgbClr val="823E75"/>
              </a:solidFill>
              <a:sym typeface="+mn-ea"/>
            </a:endParaRPr>
          </a:p>
          <a:p>
            <a:r>
              <a:rPr lang="zh-CN" altLang="en-US" sz="1800" dirty="0">
                <a:sym typeface="+mn-ea"/>
              </a:rPr>
              <a:t>用户可以通过账号密码注册登录该系统并查看可视化系统，管理员可以进行用户管理等。</a:t>
            </a:r>
            <a:endParaRPr lang="zh-CN" altLang="en-US" sz="1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FAECFCB-26CD-3C07-2526-C1F5FADDB5E9}"/>
              </a:ext>
            </a:extLst>
          </p:cNvPr>
          <p:cNvSpPr txBox="1"/>
          <p:nvPr/>
        </p:nvSpPr>
        <p:spPr>
          <a:xfrm>
            <a:off x="2043764" y="1009061"/>
            <a:ext cx="956430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823E75"/>
                </a:solidFill>
              </a:rPr>
              <a:t>数据管理模块</a:t>
            </a:r>
            <a:endParaRPr lang="en-US" altLang="zh-CN" sz="2000" b="1" dirty="0">
              <a:solidFill>
                <a:srgbClr val="823E75"/>
              </a:solidFill>
            </a:endParaRPr>
          </a:p>
          <a:p>
            <a:r>
              <a:rPr lang="zh-CN" altLang="en-US" sz="1800" dirty="0"/>
              <a:t>该模块负责单细胞数据的导入、读取和组织管理。系统将单细胞样本表示为高维向量，并对输入数据进行格式校验和基础预处理，以保证后续检索流程能够正常进行。</a:t>
            </a:r>
            <a:endParaRPr lang="en-US" altLang="zh-CN" sz="1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5AF32B-377A-EA6D-7A4B-CBCE47CCEC1A}"/>
              </a:ext>
            </a:extLst>
          </p:cNvPr>
          <p:cNvSpPr txBox="1"/>
          <p:nvPr/>
        </p:nvSpPr>
        <p:spPr>
          <a:xfrm>
            <a:off x="2043764" y="2120919"/>
            <a:ext cx="95643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823E75"/>
                </a:solidFill>
              </a:rPr>
              <a:t>索引构建模块</a:t>
            </a:r>
            <a:endParaRPr lang="en-US" altLang="zh-CN" sz="2000" b="1" dirty="0">
              <a:solidFill>
                <a:srgbClr val="823E75"/>
              </a:solidFill>
            </a:endParaRPr>
          </a:p>
          <a:p>
            <a:r>
              <a:rPr lang="zh-CN" altLang="en-US" sz="1800" dirty="0"/>
              <a:t>该模块负责根据输入数据建立检索索引，并完成索引的构建、保存和加载操作，为高效查询提供支持。</a:t>
            </a:r>
            <a:endParaRPr lang="en-US" altLang="zh-CN" sz="18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711D87-A0E2-B3A1-5F39-85BC00C8519E}"/>
              </a:ext>
            </a:extLst>
          </p:cNvPr>
          <p:cNvSpPr txBox="1"/>
          <p:nvPr/>
        </p:nvSpPr>
        <p:spPr>
          <a:xfrm>
            <a:off x="2043764" y="3167422"/>
            <a:ext cx="9689431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823E75"/>
                </a:solidFill>
              </a:rPr>
              <a:t>查询检索模块</a:t>
            </a:r>
            <a:endParaRPr lang="en-US" altLang="zh-CN" sz="2000" b="1" dirty="0">
              <a:solidFill>
                <a:srgbClr val="823E75"/>
              </a:solidFill>
            </a:endParaRPr>
          </a:p>
          <a:p>
            <a:r>
              <a:rPr lang="zh-CN" altLang="en-US" sz="1800" dirty="0"/>
              <a:t>该模块是系统的核心模块之一，负责接收用户输入的查询细胞编号或查询向量，按照设定的参数执行相似性检索，并返回 </a:t>
            </a:r>
            <a:r>
              <a:rPr lang="en-US" altLang="zh-CN" sz="1800" dirty="0"/>
              <a:t>top-k </a:t>
            </a:r>
            <a:r>
              <a:rPr lang="zh-CN" altLang="en-US" sz="1800" dirty="0"/>
              <a:t>个最相近的结果。该模块需要支持基本的检索参数设置，如索引类型、距离度量方式和返回结果数量等。</a:t>
            </a:r>
            <a:endParaRPr lang="en-US" altLang="zh-CN" sz="18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AE91159-FE77-6CF2-E979-59A2E2C766B0}"/>
              </a:ext>
            </a:extLst>
          </p:cNvPr>
          <p:cNvSpPr txBox="1"/>
          <p:nvPr/>
        </p:nvSpPr>
        <p:spPr>
          <a:xfrm>
            <a:off x="2043765" y="4525555"/>
            <a:ext cx="810447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823E75"/>
                </a:solidFill>
              </a:rPr>
              <a:t>可视化展示模块</a:t>
            </a:r>
            <a:endParaRPr lang="en-US" altLang="zh-CN" sz="2000" b="1" dirty="0">
              <a:solidFill>
                <a:srgbClr val="823E75"/>
              </a:solidFill>
            </a:endParaRPr>
          </a:p>
          <a:p>
            <a:r>
              <a:rPr lang="zh-CN" altLang="en-US" sz="1800" dirty="0"/>
              <a:t>该模块负责将检索结果以直观的形式展示给用户。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166407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FD473-9DB7-106C-40F6-632049761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7DEAE5-549E-94FF-920B-98D4892FF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AnnData</a:t>
            </a:r>
            <a:r>
              <a:rPr lang="zh-CN" altLang="en-US" dirty="0"/>
              <a:t>（</a:t>
            </a:r>
            <a:r>
              <a:rPr lang="en-US" altLang="zh-CN" dirty="0"/>
              <a:t>.h5ad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40B3974-AB0C-A4F1-E64E-75FE23BD8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656788"/>
              </p:ext>
            </p:extLst>
          </p:nvPr>
        </p:nvGraphicFramePr>
        <p:xfrm>
          <a:off x="1906489" y="1911562"/>
          <a:ext cx="7480015" cy="21945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569918">
                  <a:extLst>
                    <a:ext uri="{9D8B030D-6E8A-4147-A177-3AD203B41FA5}">
                      <a16:colId xmlns:a16="http://schemas.microsoft.com/office/drawing/2014/main" val="4149156857"/>
                    </a:ext>
                  </a:extLst>
                </a:gridCol>
                <a:gridCol w="4910097">
                  <a:extLst>
                    <a:ext uri="{9D8B030D-6E8A-4147-A177-3AD203B41FA5}">
                      <a16:colId xmlns:a16="http://schemas.microsoft.com/office/drawing/2014/main" val="524848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字段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含义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E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5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基因表达矩阵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5910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obs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细胞元信息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5063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var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基因元信息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7517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obsm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降维后的特征（</a:t>
                      </a:r>
                      <a:r>
                        <a:rPr lang="en-US" altLang="zh-CN" dirty="0"/>
                        <a:t>PCA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UMAP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3255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layers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不同处理阶段的数据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392703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68DAD11-DF46-476F-A59A-4905CAF61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489" y="866508"/>
            <a:ext cx="8917826" cy="879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在 Python 单细胞分析生态中，最常用的数据结构为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AnnData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，其文件后缀为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.h5ad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AnnData 主要包含以下内容：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89D1717-21FF-3C79-A480-6D45D5E02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37" y="4639763"/>
            <a:ext cx="5305551" cy="118473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2F0D366-D1C9-E0CE-077A-61851C51E9A2}"/>
              </a:ext>
            </a:extLst>
          </p:cNvPr>
          <p:cNvSpPr txBox="1"/>
          <p:nvPr/>
        </p:nvSpPr>
        <p:spPr>
          <a:xfrm>
            <a:off x="1906489" y="4325813"/>
            <a:ext cx="6097280" cy="1712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X </a:t>
            </a:r>
            <a:r>
              <a:rPr lang="zh-CN" altLang="en-US" dirty="0">
                <a:latin typeface="+mn-ea"/>
              </a:rPr>
              <a:t>是 </a:t>
            </a:r>
            <a:r>
              <a:rPr lang="en-US" altLang="zh-CN" dirty="0" err="1">
                <a:latin typeface="+mn-ea"/>
              </a:rPr>
              <a:t>AnnData</a:t>
            </a:r>
            <a:r>
              <a:rPr lang="en-US" altLang="zh-CN" dirty="0">
                <a:latin typeface="+mn-ea"/>
              </a:rPr>
              <a:t> </a:t>
            </a:r>
            <a:r>
              <a:rPr lang="zh-CN" altLang="en-US" dirty="0">
                <a:latin typeface="+mn-ea"/>
              </a:rPr>
              <a:t>最核心的数据部分。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行：</a:t>
            </a:r>
            <a:r>
              <a:rPr lang="zh-CN" altLang="en-US" b="1" dirty="0">
                <a:latin typeface="+mn-ea"/>
              </a:rPr>
              <a:t>细胞（</a:t>
            </a:r>
            <a:r>
              <a:rPr lang="en-US" altLang="zh-CN" b="1" dirty="0">
                <a:latin typeface="+mn-ea"/>
              </a:rPr>
              <a:t>cell</a:t>
            </a:r>
            <a:r>
              <a:rPr lang="zh-CN" altLang="en-US" b="1" dirty="0">
                <a:latin typeface="+mn-ea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列：</a:t>
            </a:r>
            <a:r>
              <a:rPr lang="zh-CN" altLang="en-US" b="1" dirty="0">
                <a:latin typeface="+mn-ea"/>
              </a:rPr>
              <a:t>基因（</a:t>
            </a:r>
            <a:r>
              <a:rPr lang="en-US" altLang="zh-CN" b="1" dirty="0">
                <a:latin typeface="+mn-ea"/>
              </a:rPr>
              <a:t>gene</a:t>
            </a:r>
            <a:r>
              <a:rPr lang="zh-CN" altLang="en-US" b="1" dirty="0">
                <a:latin typeface="+mn-ea"/>
              </a:rPr>
              <a:t>）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dirty="0">
                <a:latin typeface="+mn-ea"/>
              </a:rPr>
              <a:t>矩阵中的值表示</a:t>
            </a:r>
            <a:r>
              <a:rPr lang="zh-CN" altLang="en-US" b="1" dirty="0">
                <a:latin typeface="+mn-ea"/>
              </a:rPr>
              <a:t>基因表达量</a:t>
            </a:r>
            <a:r>
              <a:rPr lang="zh-CN" altLang="en-US" dirty="0">
                <a:latin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64846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55C24-33E0-FBB9-DEB8-56E540002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48ED1-186D-58BB-F13B-5E663E617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6913A66-85CB-D78C-10BB-A787E7BF7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723" y="2641786"/>
            <a:ext cx="4155953" cy="334255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3B7D91C-F6C7-B9C6-79F6-9AA8EF2A020A}"/>
              </a:ext>
            </a:extLst>
          </p:cNvPr>
          <p:cNvSpPr txBox="1"/>
          <p:nvPr/>
        </p:nvSpPr>
        <p:spPr>
          <a:xfrm>
            <a:off x="1756192" y="873659"/>
            <a:ext cx="10084903" cy="888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dirty="0"/>
              <a:t>该数据集来源于 </a:t>
            </a:r>
            <a:r>
              <a:rPr lang="en-US" altLang="zh-CN" dirty="0"/>
              <a:t>CZI</a:t>
            </a:r>
            <a:r>
              <a:rPr lang="zh-CN" altLang="en-US" dirty="0"/>
              <a:t>（</a:t>
            </a:r>
            <a:r>
              <a:rPr lang="en-US" altLang="zh-CN" dirty="0"/>
              <a:t>Chan Zuckerberg Initiative</a:t>
            </a:r>
            <a:r>
              <a:rPr lang="zh-CN" altLang="en-US" dirty="0"/>
              <a:t>）细胞科学项目，研究主题为：</a:t>
            </a:r>
            <a:r>
              <a:rPr lang="zh-CN" altLang="en-US" dirty="0">
                <a:latin typeface="Courier New" panose="02070309020205020404" pitchFamily="49" charset="0"/>
              </a:rPr>
              <a:t>儿童肝脏单细胞转录组图谱</a:t>
            </a:r>
            <a:r>
              <a:rPr lang="en-US" altLang="zh-CN" dirty="0">
                <a:latin typeface="Courier New" panose="02070309020205020404" pitchFamily="49" charset="0"/>
              </a:rPr>
              <a:t>,</a:t>
            </a:r>
            <a:r>
              <a:rPr lang="zh-CN" altLang="en-US" dirty="0">
                <a:latin typeface="Courier New" panose="02070309020205020404" pitchFamily="49" charset="0"/>
              </a:rPr>
              <a:t>我们使用的数据集是</a:t>
            </a:r>
            <a:r>
              <a:rPr lang="zh-CN" altLang="en-US" dirty="0"/>
              <a:t>健康的儿童和成人肝脏组织。</a:t>
            </a:r>
            <a:endParaRPr lang="zh-CN" altLang="en-US" dirty="0">
              <a:latin typeface="Courier New" panose="020703090202050204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F40F65B-0C33-CFCC-C45C-F2BF4B03FCC2}"/>
              </a:ext>
            </a:extLst>
          </p:cNvPr>
          <p:cNvSpPr txBox="1"/>
          <p:nvPr/>
        </p:nvSpPr>
        <p:spPr>
          <a:xfrm>
            <a:off x="1826877" y="1816465"/>
            <a:ext cx="10014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4"/>
              </a:rPr>
              <a:t>Single-Cell Atlas Of Human Pediatric Liver Reveals Age-Related Hepatic Gene Signatures - CZ </a:t>
            </a:r>
            <a:r>
              <a:rPr lang="en-US" altLang="zh-CN" dirty="0" err="1">
                <a:hlinkClick r:id="rId4"/>
              </a:rPr>
              <a:t>CELLxGENE</a:t>
            </a:r>
            <a:r>
              <a:rPr lang="en-US" altLang="zh-CN" dirty="0">
                <a:hlinkClick r:id="rId4"/>
              </a:rPr>
              <a:t> Discover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4F611C2-98EB-D5FC-8075-66EB1596D8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6427" y="2347409"/>
            <a:ext cx="2099921" cy="409559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27F0E4C-029C-1080-F115-CBCB572CDF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379" y="2516897"/>
            <a:ext cx="2392822" cy="142235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C4CFFFB-DD6F-1440-102B-9CB1A4A4CB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379" y="3993356"/>
            <a:ext cx="1857066" cy="68534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AADD5706-A14C-E599-6D28-0309E5A1FE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379" y="4732803"/>
            <a:ext cx="1734702" cy="338680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9D375150-7DA0-0C2C-BB01-EA11CDC89CEE}"/>
              </a:ext>
            </a:extLst>
          </p:cNvPr>
          <p:cNvSpPr txBox="1"/>
          <p:nvPr/>
        </p:nvSpPr>
        <p:spPr>
          <a:xfrm>
            <a:off x="8477379" y="5225143"/>
            <a:ext cx="3258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823E75"/>
                </a:solidFill>
              </a:rPr>
              <a:t>可以关注的一些分类方式</a:t>
            </a:r>
          </a:p>
        </p:txBody>
      </p:sp>
    </p:spTree>
    <p:extLst>
      <p:ext uri="{BB962C8B-B14F-4D97-AF65-F5344CB8AC3E}">
        <p14:creationId xmlns:p14="http://schemas.microsoft.com/office/powerpoint/2010/main" val="326187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AF173-E10F-6C37-1B0E-A2BF0DA8B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7F6B0-1AA1-F8E4-5FBA-C5BE6CE5A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数据处理与降维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C977FA-6755-CB66-F5CC-732090AD8402}"/>
              </a:ext>
            </a:extLst>
          </p:cNvPr>
          <p:cNvSpPr txBox="1"/>
          <p:nvPr/>
        </p:nvSpPr>
        <p:spPr>
          <a:xfrm>
            <a:off x="1880667" y="1432553"/>
            <a:ext cx="6097280" cy="3374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原始表达矩阵</a:t>
            </a:r>
            <a:br>
              <a:rPr lang="zh-CN" altLang="en-US" dirty="0"/>
            </a:br>
            <a:r>
              <a:rPr lang="zh-CN" altLang="en-US" dirty="0"/>
              <a:t>质量控制（</a:t>
            </a:r>
            <a:r>
              <a:rPr lang="en-US" altLang="zh-CN" dirty="0"/>
              <a:t>QC</a:t>
            </a:r>
            <a:r>
              <a:rPr lang="zh-CN" altLang="en-US" dirty="0"/>
              <a:t>）</a:t>
            </a:r>
            <a:br>
              <a:rPr lang="zh-CN" altLang="en-US" dirty="0"/>
            </a:br>
            <a:r>
              <a:rPr lang="zh-CN" altLang="en-US" dirty="0"/>
              <a:t>数据标准化</a:t>
            </a:r>
            <a:br>
              <a:rPr lang="zh-CN" altLang="en-US" dirty="0"/>
            </a:br>
            <a:r>
              <a:rPr lang="zh-CN" altLang="en-US" dirty="0"/>
              <a:t>对数变换</a:t>
            </a:r>
            <a:br>
              <a:rPr lang="zh-CN" altLang="en-US" dirty="0"/>
            </a:br>
            <a:r>
              <a:rPr lang="zh-CN" altLang="en-US" dirty="0"/>
              <a:t>高变基因筛选</a:t>
            </a:r>
            <a:br>
              <a:rPr lang="zh-CN" altLang="en-US" dirty="0"/>
            </a:br>
            <a:r>
              <a:rPr lang="zh-CN" altLang="en-US" dirty="0"/>
              <a:t>数据缩放</a:t>
            </a:r>
            <a:br>
              <a:rPr lang="zh-CN" altLang="en-US" dirty="0"/>
            </a:br>
            <a:r>
              <a:rPr lang="en-US" altLang="zh-CN" dirty="0"/>
              <a:t>PCA</a:t>
            </a:r>
            <a:r>
              <a:rPr lang="zh-CN" altLang="en-US" dirty="0"/>
              <a:t>降维</a:t>
            </a:r>
            <a:br>
              <a:rPr lang="zh-CN" altLang="en-US" dirty="0"/>
            </a:br>
            <a:r>
              <a:rPr lang="zh-CN" altLang="en-US" dirty="0"/>
              <a:t>生成低维细胞向量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AAAC6B2-FE21-71B9-6C9F-F3AC8FE3D4AA}"/>
              </a:ext>
            </a:extLst>
          </p:cNvPr>
          <p:cNvSpPr txBox="1"/>
          <p:nvPr/>
        </p:nvSpPr>
        <p:spPr>
          <a:xfrm>
            <a:off x="1880667" y="945136"/>
            <a:ext cx="2650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常见的数据处理流程：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DFF5109-E713-7191-5BA1-6F5228E9B593}"/>
              </a:ext>
            </a:extLst>
          </p:cNvPr>
          <p:cNvSpPr txBox="1"/>
          <p:nvPr/>
        </p:nvSpPr>
        <p:spPr>
          <a:xfrm>
            <a:off x="5893654" y="2067005"/>
            <a:ext cx="5617028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823E75"/>
                </a:solidFill>
              </a:rPr>
              <a:t>给大家提供的数据已经进行了处理，如果想要对数据进行其他的处理，可以在原始数据上再进行处理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B275B1-C66B-95DB-6108-41FA3EDC427C}"/>
              </a:ext>
            </a:extLst>
          </p:cNvPr>
          <p:cNvSpPr txBox="1"/>
          <p:nvPr/>
        </p:nvSpPr>
        <p:spPr>
          <a:xfrm>
            <a:off x="1828800" y="5220217"/>
            <a:ext cx="9681882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这里使用的降维方法是</a:t>
            </a:r>
            <a:r>
              <a:rPr lang="en-US" altLang="zh-CN" dirty="0"/>
              <a:t>PCA</a:t>
            </a:r>
            <a:r>
              <a:rPr lang="zh-CN" altLang="en-US" dirty="0"/>
              <a:t>，大家可以自行尝试自编码器、</a:t>
            </a:r>
            <a:r>
              <a:rPr lang="en-US" altLang="zh-CN" dirty="0" err="1"/>
              <a:t>scVI</a:t>
            </a:r>
            <a:r>
              <a:rPr lang="zh-CN" altLang="en-US" dirty="0"/>
              <a:t>等方式，但是注意，盲目的使用其他方法生成</a:t>
            </a:r>
            <a:r>
              <a:rPr lang="en-US" altLang="zh-CN" dirty="0"/>
              <a:t>embedding</a:t>
            </a:r>
            <a:r>
              <a:rPr lang="zh-CN" altLang="en-US" dirty="0"/>
              <a:t>未必会让效果更好，请斟酌效果后使用</a:t>
            </a:r>
          </a:p>
        </p:txBody>
      </p:sp>
    </p:spTree>
    <p:extLst>
      <p:ext uri="{BB962C8B-B14F-4D97-AF65-F5344CB8AC3E}">
        <p14:creationId xmlns:p14="http://schemas.microsoft.com/office/powerpoint/2010/main" val="224491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59F6E-D0BC-3B53-E23A-8EF2001D9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DEC0FA-DEA0-A6A9-EFDD-D17620242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常见 </a:t>
            </a:r>
            <a:r>
              <a:rPr lang="en-US" altLang="zh-CN" dirty="0"/>
              <a:t>ANN </a:t>
            </a:r>
            <a:r>
              <a:rPr lang="zh-CN" altLang="en-US" dirty="0"/>
              <a:t>算法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BF8CBAC-9952-B4CF-92CB-A6AE9EDC7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382488"/>
              </p:ext>
            </p:extLst>
          </p:nvPr>
        </p:nvGraphicFramePr>
        <p:xfrm>
          <a:off x="2048050" y="1107782"/>
          <a:ext cx="7094284" cy="2194560"/>
        </p:xfrm>
        <a:graphic>
          <a:graphicData uri="http://schemas.openxmlformats.org/drawingml/2006/table">
            <a:tbl>
              <a:tblPr/>
              <a:tblGrid>
                <a:gridCol w="1914186">
                  <a:extLst>
                    <a:ext uri="{9D8B030D-6E8A-4147-A177-3AD203B41FA5}">
                      <a16:colId xmlns:a16="http://schemas.microsoft.com/office/drawing/2014/main" val="4046839930"/>
                    </a:ext>
                  </a:extLst>
                </a:gridCol>
                <a:gridCol w="5180098">
                  <a:extLst>
                    <a:ext uri="{9D8B030D-6E8A-4147-A177-3AD203B41FA5}">
                      <a16:colId xmlns:a16="http://schemas.microsoft.com/office/drawing/2014/main" val="12282197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类型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代表算法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762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哈希方法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LSH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061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聚类索引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IVF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845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图结构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rgbClr val="823E75"/>
                          </a:solidFill>
                          <a:latin typeface="+mn-lt"/>
                          <a:ea typeface="+mn-ea"/>
                          <a:cs typeface="+mn-cs"/>
                        </a:rPr>
                        <a:t>HNSW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、NSG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005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向量压缩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PQ、OPQ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424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混合结构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rgbClr val="823E75"/>
                          </a:solidFill>
                          <a:latin typeface="+mn-lt"/>
                          <a:ea typeface="+mn-ea"/>
                          <a:cs typeface="+mn-cs"/>
                        </a:rPr>
                        <a:t>IVF+PQ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、IVF+HNSW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575823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D6721DB3-2228-241A-380A-758FE0ACD316}"/>
              </a:ext>
            </a:extLst>
          </p:cNvPr>
          <p:cNvSpPr txBox="1"/>
          <p:nvPr/>
        </p:nvSpPr>
        <p:spPr>
          <a:xfrm>
            <a:off x="1986578" y="3484832"/>
            <a:ext cx="9261181" cy="1712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823E75"/>
                </a:solidFill>
              </a:rPr>
              <a:t>IVF</a:t>
            </a:r>
            <a:r>
              <a:rPr lang="zh-CN" altLang="en-US" dirty="0"/>
              <a:t>（</a:t>
            </a:r>
            <a:r>
              <a:rPr lang="en-US" altLang="zh-CN" dirty="0"/>
              <a:t>Inverted File Index</a:t>
            </a:r>
            <a:r>
              <a:rPr lang="zh-CN" altLang="en-US" dirty="0"/>
              <a:t>）先聚类，再在局部区域搜索。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823E75"/>
                </a:solidFill>
              </a:rPr>
              <a:t>HNSW</a:t>
            </a:r>
            <a:r>
              <a:rPr lang="zh-CN" altLang="en-US" dirty="0"/>
              <a:t>（</a:t>
            </a:r>
            <a:r>
              <a:rPr lang="en-US" altLang="zh-CN" dirty="0"/>
              <a:t>Hierarchical Navigable Small World</a:t>
            </a:r>
            <a:r>
              <a:rPr lang="zh-CN" altLang="en-US" dirty="0"/>
              <a:t>）基于图结构构建近邻网络。高召回率，查询效率高，</a:t>
            </a:r>
            <a:r>
              <a:rPr lang="zh-CN" altLang="en-US" b="1" dirty="0">
                <a:solidFill>
                  <a:srgbClr val="823E75"/>
                </a:solidFill>
              </a:rPr>
              <a:t>当前主流 </a:t>
            </a:r>
            <a:r>
              <a:rPr lang="en-US" altLang="zh-CN" b="1" dirty="0">
                <a:solidFill>
                  <a:srgbClr val="823E75"/>
                </a:solidFill>
              </a:rPr>
              <a:t>ANN </a:t>
            </a:r>
            <a:r>
              <a:rPr lang="zh-CN" altLang="en-US" b="1" dirty="0">
                <a:solidFill>
                  <a:srgbClr val="823E75"/>
                </a:solidFill>
              </a:rPr>
              <a:t>方法之一</a:t>
            </a:r>
            <a:endParaRPr lang="en-US" altLang="zh-CN" b="1" dirty="0">
              <a:solidFill>
                <a:srgbClr val="823E75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823E75"/>
                </a:solidFill>
              </a:rPr>
              <a:t>PQ</a:t>
            </a:r>
            <a:r>
              <a:rPr lang="zh-CN" altLang="en-US" dirty="0"/>
              <a:t>（</a:t>
            </a:r>
            <a:r>
              <a:rPr lang="en-US" altLang="zh-CN" dirty="0"/>
              <a:t>Product Quantization</a:t>
            </a:r>
            <a:r>
              <a:rPr lang="zh-CN" altLang="en-US" dirty="0"/>
              <a:t>）对向量进行压缩编码。特点：降低内存占用适合超大规模数据</a:t>
            </a:r>
          </a:p>
        </p:txBody>
      </p:sp>
    </p:spTree>
    <p:extLst>
      <p:ext uri="{BB962C8B-B14F-4D97-AF65-F5344CB8AC3E}">
        <p14:creationId xmlns:p14="http://schemas.microsoft.com/office/powerpoint/2010/main" val="3946177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ECB97-D591-2711-2E40-2DDB48394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961608-0098-D362-69FD-73E615E86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ANN </a:t>
            </a:r>
            <a:r>
              <a:rPr lang="zh-CN" altLang="en-US" dirty="0"/>
              <a:t>检索库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422155-424C-1231-CFD1-EE590EE9E26C}"/>
              </a:ext>
            </a:extLst>
          </p:cNvPr>
          <p:cNvSpPr txBox="1"/>
          <p:nvPr/>
        </p:nvSpPr>
        <p:spPr>
          <a:xfrm>
            <a:off x="1913323" y="2494935"/>
            <a:ext cx="3283004" cy="3374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823E75"/>
                </a:solidFill>
              </a:rPr>
              <a:t>FAISS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Facebook AI Research </a:t>
            </a:r>
            <a:r>
              <a:rPr lang="zh-CN" altLang="en-US" dirty="0"/>
              <a:t>提供的高性能向量检索库。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支持 </a:t>
            </a:r>
            <a:r>
              <a:rPr lang="en-US" altLang="zh-CN" dirty="0"/>
              <a:t>GPU </a:t>
            </a:r>
            <a:r>
              <a:rPr lang="zh-CN" altLang="en-US" dirty="0"/>
              <a:t>加速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支持 </a:t>
            </a:r>
            <a:r>
              <a:rPr lang="en-US" altLang="zh-CN" dirty="0"/>
              <a:t>IVF / PQ / HNSW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适合大规模向量搜索</a:t>
            </a:r>
          </a:p>
          <a:p>
            <a:pPr>
              <a:lnSpc>
                <a:spcPct val="150000"/>
              </a:lnSpc>
              <a:buNone/>
            </a:pPr>
            <a:br>
              <a:rPr lang="en-US" altLang="zh-CN" dirty="0"/>
            </a:br>
            <a:endParaRPr lang="zh-CN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19D2B30-42CF-0DCB-CAC8-672C35B1A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271384"/>
              </p:ext>
            </p:extLst>
          </p:nvPr>
        </p:nvGraphicFramePr>
        <p:xfrm>
          <a:off x="1913323" y="980081"/>
          <a:ext cx="8306442" cy="1463040"/>
        </p:xfrm>
        <a:graphic>
          <a:graphicData uri="http://schemas.openxmlformats.org/drawingml/2006/table">
            <a:tbl>
              <a:tblPr/>
              <a:tblGrid>
                <a:gridCol w="4153221">
                  <a:extLst>
                    <a:ext uri="{9D8B030D-6E8A-4147-A177-3AD203B41FA5}">
                      <a16:colId xmlns:a16="http://schemas.microsoft.com/office/drawing/2014/main" val="1608989283"/>
                    </a:ext>
                  </a:extLst>
                </a:gridCol>
                <a:gridCol w="4153221">
                  <a:extLst>
                    <a:ext uri="{9D8B030D-6E8A-4147-A177-3AD203B41FA5}">
                      <a16:colId xmlns:a16="http://schemas.microsoft.com/office/drawing/2014/main" val="42486435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检索库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主流算法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508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FAISS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IVF / PQ / HNSW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78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HNSWLIB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HNSW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696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Qdrant</a:t>
                      </a:r>
                      <a:r>
                        <a:rPr lang="zh-CN" altLang="en-US" dirty="0"/>
                        <a:t>（向量数据库）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HNSW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369095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9A835C8D-159B-AA1F-432D-2B829340DD93}"/>
              </a:ext>
            </a:extLst>
          </p:cNvPr>
          <p:cNvSpPr txBox="1"/>
          <p:nvPr/>
        </p:nvSpPr>
        <p:spPr>
          <a:xfrm>
            <a:off x="6096000" y="2494935"/>
            <a:ext cx="4328032" cy="212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823E75"/>
                </a:solidFill>
              </a:rPr>
              <a:t>HNSWLIB</a:t>
            </a:r>
            <a:endParaRPr lang="zh-CN" altLang="en-US" b="1" dirty="0">
              <a:solidFill>
                <a:srgbClr val="823E75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dirty="0"/>
              <a:t>轻量级 </a:t>
            </a:r>
            <a:r>
              <a:rPr lang="en-US" altLang="zh-CN" dirty="0"/>
              <a:t>ANN </a:t>
            </a:r>
            <a:r>
              <a:rPr lang="zh-CN" altLang="en-US" dirty="0"/>
              <a:t>检索库。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查询速度快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内存效率高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部署简单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C5B4125-B6B0-4562-9868-794FC04B9FB9}"/>
              </a:ext>
            </a:extLst>
          </p:cNvPr>
          <p:cNvSpPr txBox="1"/>
          <p:nvPr/>
        </p:nvSpPr>
        <p:spPr>
          <a:xfrm>
            <a:off x="1889891" y="5324986"/>
            <a:ext cx="8412218" cy="1158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823E75"/>
                </a:solidFill>
                <a:latin typeface="+mn-ea"/>
              </a:rPr>
              <a:t>向量数据库</a:t>
            </a:r>
            <a:r>
              <a:rPr lang="zh-CN" altLang="en-US" dirty="0">
                <a:latin typeface="+mn-ea"/>
              </a:rPr>
              <a:t>可以理解为：</a:t>
            </a:r>
          </a:p>
          <a:p>
            <a:r>
              <a:rPr lang="en-US" altLang="zh-CN" dirty="0">
                <a:latin typeface="+mn-ea"/>
              </a:rPr>
              <a:t>ANN </a:t>
            </a:r>
            <a:r>
              <a:rPr lang="zh-CN" altLang="en-US" dirty="0">
                <a:latin typeface="+mn-ea"/>
              </a:rPr>
              <a:t>检索 </a:t>
            </a:r>
            <a:r>
              <a:rPr lang="en-US" altLang="zh-CN" dirty="0">
                <a:latin typeface="+mn-ea"/>
              </a:rPr>
              <a:t>+ </a:t>
            </a:r>
            <a:r>
              <a:rPr lang="zh-CN" altLang="en-US" dirty="0">
                <a:latin typeface="+mn-ea"/>
              </a:rPr>
              <a:t>数据库系统，除了检索外还支持</a:t>
            </a:r>
            <a:r>
              <a:rPr lang="zh-CN" altLang="en-US" dirty="0"/>
              <a:t>还支持元数据管理等数据库的功能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常见的还有</a:t>
            </a:r>
            <a:r>
              <a:rPr lang="en-US" altLang="zh-CN" dirty="0"/>
              <a:t>Milvus	</a:t>
            </a:r>
            <a:r>
              <a:rPr lang="zh-CN" altLang="en-US" dirty="0"/>
              <a:t>、</a:t>
            </a:r>
            <a:r>
              <a:rPr lang="en-US" altLang="zh-CN" dirty="0" err="1"/>
              <a:t>Qdrant</a:t>
            </a:r>
            <a:r>
              <a:rPr lang="zh-CN" altLang="en-US" dirty="0"/>
              <a:t>、</a:t>
            </a:r>
            <a:r>
              <a:rPr lang="en-US" altLang="zh-CN" dirty="0" err="1"/>
              <a:t>Weaviate</a:t>
            </a:r>
            <a:r>
              <a:rPr lang="zh-CN" altLang="en-US" dirty="0"/>
              <a:t>、</a:t>
            </a:r>
            <a:r>
              <a:rPr lang="en-US" altLang="zh-CN" dirty="0" err="1"/>
              <a:t>ChromaDB</a:t>
            </a:r>
            <a:r>
              <a:rPr lang="zh-CN" altLang="en-US" dirty="0"/>
              <a:t>等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13F8B97-B641-8BA5-868C-7D6426BDC0E6}"/>
              </a:ext>
            </a:extLst>
          </p:cNvPr>
          <p:cNvCxnSpPr/>
          <p:nvPr/>
        </p:nvCxnSpPr>
        <p:spPr>
          <a:xfrm>
            <a:off x="2020902" y="5137485"/>
            <a:ext cx="943599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369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FDA75-2E20-C454-6B59-F60AF0035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A8288F-230F-DDA7-15C3-969811923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开发要求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42E6C4-50A4-028C-7CE6-970990885E0D}"/>
              </a:ext>
            </a:extLst>
          </p:cNvPr>
          <p:cNvSpPr txBox="1"/>
          <p:nvPr/>
        </p:nvSpPr>
        <p:spPr>
          <a:xfrm>
            <a:off x="1541038" y="1157565"/>
            <a:ext cx="8340627" cy="118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1800" kern="100" dirty="0">
                <a:latin typeface="+mn-ea"/>
                <a:cs typeface="Times New Roman" panose="02020603050405020304" pitchFamily="18" charset="0"/>
              </a:rPr>
              <a:t>要求为</a:t>
            </a:r>
            <a:r>
              <a:rPr lang="en-US" altLang="zh-CN" sz="1800" kern="100" dirty="0">
                <a:latin typeface="+mn-ea"/>
                <a:cs typeface="Times New Roman" panose="02020603050405020304" pitchFamily="18" charset="0"/>
              </a:rPr>
              <a:t>web</a:t>
            </a:r>
            <a:r>
              <a:rPr lang="zh-CN" altLang="en-US" sz="1800" kern="100" dirty="0">
                <a:latin typeface="+mn-ea"/>
                <a:cs typeface="Times New Roman" panose="02020603050405020304" pitchFamily="18" charset="0"/>
              </a:rPr>
              <a:t>应用</a:t>
            </a:r>
            <a:endParaRPr lang="en-US" altLang="zh-CN" sz="1800" kern="100" dirty="0">
              <a:latin typeface="+mn-ea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1800" kern="100" dirty="0">
                <a:latin typeface="+mn-ea"/>
                <a:cs typeface="Times New Roman" panose="02020603050405020304" pitchFamily="18" charset="0"/>
              </a:rPr>
              <a:t>技术栈任选（没有</a:t>
            </a:r>
            <a:r>
              <a:rPr lang="en-US" altLang="zh-CN" sz="1800" kern="100" dirty="0">
                <a:latin typeface="+mn-ea"/>
                <a:cs typeface="Times New Roman" panose="02020603050405020304" pitchFamily="18" charset="0"/>
              </a:rPr>
              <a:t>web</a:t>
            </a:r>
            <a:r>
              <a:rPr lang="zh-CN" altLang="en-US" sz="1800" kern="100" dirty="0">
                <a:latin typeface="+mn-ea"/>
                <a:cs typeface="Times New Roman" panose="02020603050405020304" pitchFamily="18" charset="0"/>
              </a:rPr>
              <a:t>开发经验建议使用</a:t>
            </a:r>
            <a:r>
              <a:rPr lang="en-US" altLang="zh-CN" sz="1800" kern="100" dirty="0">
                <a:latin typeface="+mn-ea"/>
                <a:cs typeface="Times New Roman" panose="02020603050405020304" pitchFamily="18" charset="0"/>
              </a:rPr>
              <a:t>flask</a:t>
            </a:r>
            <a:r>
              <a:rPr lang="zh-CN" altLang="en-US" sz="1800" kern="100" dirty="0"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273DE4-B8AB-BCD2-65F7-85CD3333F38A}"/>
              </a:ext>
            </a:extLst>
          </p:cNvPr>
          <p:cNvSpPr txBox="1"/>
          <p:nvPr/>
        </p:nvSpPr>
        <p:spPr>
          <a:xfrm>
            <a:off x="2018979" y="2744124"/>
            <a:ext cx="6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系统部署要求使用</a:t>
            </a:r>
            <a:r>
              <a:rPr lang="en-US" altLang="zh-CN" dirty="0"/>
              <a:t>Git</a:t>
            </a:r>
            <a:r>
              <a:rPr lang="zh-CN" altLang="en-US" dirty="0"/>
              <a:t>进行代码版本管理</a:t>
            </a:r>
          </a:p>
        </p:txBody>
      </p:sp>
    </p:spTree>
    <p:extLst>
      <p:ext uri="{BB962C8B-B14F-4D97-AF65-F5344CB8AC3E}">
        <p14:creationId xmlns:p14="http://schemas.microsoft.com/office/powerpoint/2010/main" val="761286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46AB9-B7C8-93EE-FD6F-3203BD5FE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23E1CE-8D82-4AA6-937A-C1532E821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团队作业中期提交</a:t>
            </a:r>
          </a:p>
        </p:txBody>
      </p:sp>
      <p:sp>
        <p:nvSpPr>
          <p:cNvPr id="3" name="内容占位符 4">
            <a:extLst>
              <a:ext uri="{FF2B5EF4-FFF2-40B4-BE49-F238E27FC236}">
                <a16:creationId xmlns:a16="http://schemas.microsoft.com/office/drawing/2014/main" id="{A9D8C7F7-E5F5-D077-89D5-F7E7914FAC50}"/>
              </a:ext>
            </a:extLst>
          </p:cNvPr>
          <p:cNvSpPr txBox="1">
            <a:spLocks/>
          </p:cNvSpPr>
          <p:nvPr/>
        </p:nvSpPr>
        <p:spPr>
          <a:xfrm>
            <a:off x="1899036" y="4988910"/>
            <a:ext cx="9354189" cy="96879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zh-CN" sz="2000" kern="100" dirty="0">
                <a:latin typeface="+mn-ea"/>
                <a:cs typeface="Times New Roman" panose="02020603050405020304" pitchFamily="18" charset="0"/>
              </a:rPr>
              <a:t>项目代码提交到</a:t>
            </a:r>
            <a:r>
              <a:rPr lang="en-US" altLang="zh-CN" sz="2000" kern="100" dirty="0" err="1">
                <a:latin typeface="+mn-ea"/>
                <a:cs typeface="Times New Roman" panose="02020603050405020304" pitchFamily="18" charset="0"/>
              </a:rPr>
              <a:t>github</a:t>
            </a:r>
            <a:r>
              <a:rPr lang="zh-CN" altLang="en-US" sz="20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  <a:sym typeface="+mn-ea"/>
              </a:rPr>
              <a:t>，要求有提交记录，能够体现项目的完成过程。每个小组进行</a:t>
            </a:r>
            <a:r>
              <a:rPr lang="zh-CN" altLang="en-US" sz="2000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  <a:sym typeface="+mn-ea"/>
              </a:rPr>
              <a:t>作业展示</a:t>
            </a:r>
            <a:r>
              <a:rPr lang="zh-CN" altLang="en-US" sz="20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0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  <a:sym typeface="+mn-ea"/>
              </a:rPr>
              <a:t>6</a:t>
            </a:r>
            <a:r>
              <a:rPr lang="zh-CN" altLang="en-US" sz="20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  <a:sym typeface="+mn-ea"/>
              </a:rPr>
              <a:t>月</a:t>
            </a:r>
            <a:r>
              <a:rPr lang="en-US" altLang="zh-CN" sz="20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20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  <a:sym typeface="+mn-ea"/>
              </a:rPr>
              <a:t>号和</a:t>
            </a:r>
            <a:r>
              <a:rPr lang="en-US" altLang="zh-CN" sz="20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  <a:sym typeface="+mn-ea"/>
              </a:rPr>
              <a:t>6</a:t>
            </a:r>
            <a:r>
              <a:rPr lang="zh-CN" altLang="en-US" sz="20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  <a:sym typeface="+mn-ea"/>
              </a:rPr>
              <a:t>月</a:t>
            </a:r>
            <a:r>
              <a:rPr lang="en-US" altLang="zh-CN" sz="20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  <a:sym typeface="+mn-ea"/>
              </a:rPr>
              <a:t>8</a:t>
            </a:r>
            <a:r>
              <a:rPr lang="zh-CN" altLang="en-US" sz="20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  <a:sym typeface="+mn-ea"/>
              </a:rPr>
              <a:t>号两次课），按组号排序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9A9ECB-4EBA-64D5-67F4-29F80DB0544C}"/>
              </a:ext>
            </a:extLst>
          </p:cNvPr>
          <p:cNvSpPr txBox="1"/>
          <p:nvPr/>
        </p:nvSpPr>
        <p:spPr>
          <a:xfrm>
            <a:off x="1456246" y="815376"/>
            <a:ext cx="8869296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1800" kern="100" dirty="0">
                <a:latin typeface="+mn-ea"/>
                <a:cs typeface="Times New Roman" panose="02020603050405020304" pitchFamily="18" charset="0"/>
              </a:rPr>
              <a:t>中期提交根据完成度打分，要求如下：</a:t>
            </a:r>
            <a:endParaRPr lang="en-US" altLang="zh-CN" sz="18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60F4F6D-6B78-AA3F-E4D0-29955AC1B4B0}"/>
              </a:ext>
            </a:extLst>
          </p:cNvPr>
          <p:cNvSpPr txBox="1"/>
          <p:nvPr/>
        </p:nvSpPr>
        <p:spPr>
          <a:xfrm>
            <a:off x="1456246" y="4561281"/>
            <a:ext cx="6097280" cy="50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000" kern="100" dirty="0">
                <a:latin typeface="+mn-ea"/>
                <a:cs typeface="Times New Roman" panose="02020603050405020304" pitchFamily="18" charset="0"/>
              </a:rPr>
              <a:t>分数分配情况为</a:t>
            </a:r>
            <a:r>
              <a:rPr lang="zh-CN" altLang="en-US" sz="2000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项目</a:t>
            </a:r>
            <a:r>
              <a:rPr lang="en-US" altLang="zh-CN" sz="2000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15</a:t>
            </a:r>
            <a:r>
              <a:rPr lang="zh-CN" altLang="en-US" sz="2000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分，展示</a:t>
            </a:r>
            <a:r>
              <a:rPr lang="en-US" altLang="zh-CN" sz="2000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5</a:t>
            </a:r>
            <a:r>
              <a:rPr lang="zh-CN" altLang="en-US" sz="2000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32BA772-8A63-D2B4-2A17-40220C471E5F}"/>
              </a:ext>
            </a:extLst>
          </p:cNvPr>
          <p:cNvSpPr txBox="1"/>
          <p:nvPr/>
        </p:nvSpPr>
        <p:spPr>
          <a:xfrm>
            <a:off x="1964352" y="1384694"/>
            <a:ext cx="7853083" cy="2958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实现：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单细胞数据读取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数据向量化表示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ANN </a:t>
            </a:r>
            <a:r>
              <a:rPr lang="zh-CN" altLang="en-US" dirty="0"/>
              <a:t>索引构建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相似细胞检索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至少实现一种 </a:t>
            </a:r>
            <a:r>
              <a:rPr lang="en-US" altLang="zh-CN" dirty="0"/>
              <a:t>ANN </a:t>
            </a:r>
            <a:r>
              <a:rPr lang="zh-CN" altLang="en-US" dirty="0"/>
              <a:t>算法或检索库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支持 </a:t>
            </a:r>
            <a:r>
              <a:rPr lang="en-US" altLang="zh-CN" dirty="0"/>
              <a:t>Top-K </a:t>
            </a:r>
            <a:r>
              <a:rPr lang="zh-CN" altLang="en-US" dirty="0"/>
              <a:t>相似细胞搜索，并返回对应细胞信息。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0095239-9C3E-E98B-825C-5BB64AA34195}"/>
              </a:ext>
            </a:extLst>
          </p:cNvPr>
          <p:cNvCxnSpPr>
            <a:cxnSpLocks/>
          </p:cNvCxnSpPr>
          <p:nvPr/>
        </p:nvCxnSpPr>
        <p:spPr>
          <a:xfrm flipV="1">
            <a:off x="1964352" y="1384694"/>
            <a:ext cx="9543570" cy="2166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0F0CC10-744E-6847-9183-27499973F240}"/>
              </a:ext>
            </a:extLst>
          </p:cNvPr>
          <p:cNvCxnSpPr>
            <a:cxnSpLocks/>
          </p:cNvCxnSpPr>
          <p:nvPr/>
        </p:nvCxnSpPr>
        <p:spPr>
          <a:xfrm>
            <a:off x="2048877" y="4452302"/>
            <a:ext cx="954357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3D4A2A96-D64F-9C5D-900C-8D834564D159}"/>
              </a:ext>
            </a:extLst>
          </p:cNvPr>
          <p:cNvSpPr txBox="1"/>
          <p:nvPr/>
        </p:nvSpPr>
        <p:spPr>
          <a:xfrm>
            <a:off x="1899036" y="5834756"/>
            <a:ext cx="10184795" cy="968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defTabSz="9144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0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  <a:sym typeface="+mn-ea"/>
              </a:rPr>
              <a:t>每组展示时长为</a:t>
            </a:r>
            <a:r>
              <a:rPr lang="en-US" altLang="zh-CN" sz="20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  <a:sym typeface="+mn-ea"/>
              </a:rPr>
              <a:t>5-8</a:t>
            </a:r>
            <a:r>
              <a:rPr lang="zh-CN" altLang="en-US" sz="20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  <a:sym typeface="+mn-ea"/>
              </a:rPr>
              <a:t>分钟，展示内容为对已完成的功能的讲解，以及界面演示（现场</a:t>
            </a:r>
            <a:r>
              <a:rPr lang="en-US" altLang="zh-CN" sz="20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20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  <a:sym typeface="+mn-ea"/>
              </a:rPr>
              <a:t>录制视频均可）</a:t>
            </a:r>
            <a:endParaRPr lang="en-US" altLang="zh-CN" sz="2000" kern="100" dirty="0">
              <a:solidFill>
                <a:prstClr val="black"/>
              </a:solidFill>
              <a:latin typeface="+mn-ea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3807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A169D-2989-C31C-2A02-66D471548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EF6770-76F3-66F6-2ACA-AB9458923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团队作业中期提交</a:t>
            </a:r>
          </a:p>
        </p:txBody>
      </p:sp>
      <p:sp>
        <p:nvSpPr>
          <p:cNvPr id="4" name="内容占位符 4">
            <a:extLst>
              <a:ext uri="{FF2B5EF4-FFF2-40B4-BE49-F238E27FC236}">
                <a16:creationId xmlns:a16="http://schemas.microsoft.com/office/drawing/2014/main" id="{7B320A21-1AEF-7FD9-3DE6-856384DD4A52}"/>
              </a:ext>
            </a:extLst>
          </p:cNvPr>
          <p:cNvSpPr txBox="1">
            <a:spLocks/>
          </p:cNvSpPr>
          <p:nvPr/>
        </p:nvSpPr>
        <p:spPr>
          <a:xfrm>
            <a:off x="1915245" y="1818597"/>
            <a:ext cx="9329642" cy="294407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小组得分：给分</a:t>
            </a:r>
            <a:r>
              <a:rPr lang="en-US" altLang="zh-CN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小组人数（如</a:t>
            </a:r>
            <a:r>
              <a:rPr lang="en-US" altLang="zh-CN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17*5</a:t>
            </a:r>
            <a:r>
              <a:rPr lang="zh-CN" altLang="en-US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18*4</a:t>
            </a:r>
            <a:r>
              <a:rPr lang="zh-CN" altLang="en-US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kern="10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个人得分：贡献度</a:t>
            </a:r>
            <a:r>
              <a:rPr lang="en-US" altLang="zh-CN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小组得分（如</a:t>
            </a:r>
            <a:r>
              <a:rPr lang="en-US" altLang="zh-CN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0.21*17*5</a:t>
            </a:r>
            <a:r>
              <a:rPr lang="zh-CN" altLang="en-US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，即贡献度大于平均分配的</a:t>
            </a:r>
            <a:r>
              <a:rPr lang="en-US" altLang="zh-CN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0.2</a:t>
            </a:r>
            <a:r>
              <a:rPr lang="zh-CN" altLang="en-US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，或</a:t>
            </a:r>
            <a:r>
              <a:rPr lang="en-US" altLang="zh-CN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0.23*18*4</a:t>
            </a:r>
            <a:r>
              <a:rPr lang="zh-CN" altLang="en-US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，即贡献度小于平均贡献度）</a:t>
            </a:r>
            <a:endParaRPr lang="en-US" altLang="zh-CN" sz="2000" kern="10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注意，作业得分上限为</a:t>
            </a:r>
            <a:r>
              <a:rPr lang="en-US" altLang="zh-CN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en-US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，个人得分即使超出上限也只取上限，所以请</a:t>
            </a:r>
            <a:r>
              <a:rPr lang="zh-CN" altLang="en-US" sz="2000" kern="1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合理分配</a:t>
            </a:r>
            <a:r>
              <a:rPr lang="zh-CN" altLang="en-US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贡献度，不要太过极端。组长分配贡献度需使组员</a:t>
            </a:r>
            <a:r>
              <a:rPr lang="zh-CN" altLang="en-US" sz="2000" kern="1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知情并同意</a:t>
            </a:r>
            <a:endParaRPr lang="en-US" altLang="zh-CN" sz="2000" kern="1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CE39519-928A-6853-E5D3-133F51FA354D}"/>
              </a:ext>
            </a:extLst>
          </p:cNvPr>
          <p:cNvSpPr txBox="1"/>
          <p:nvPr/>
        </p:nvSpPr>
        <p:spPr>
          <a:xfrm>
            <a:off x="1915245" y="1158531"/>
            <a:ext cx="2136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823E75"/>
                </a:solidFill>
              </a:rPr>
              <a:t>贡献度说明</a:t>
            </a:r>
          </a:p>
        </p:txBody>
      </p:sp>
    </p:spTree>
    <p:extLst>
      <p:ext uri="{BB962C8B-B14F-4D97-AF65-F5344CB8AC3E}">
        <p14:creationId xmlns:p14="http://schemas.microsoft.com/office/powerpoint/2010/main" val="2084243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F426B-B5EA-6AAD-D3AD-55772C658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D6736-8996-9DCE-D33E-5A81437EA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团队作业结项提交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4D27352-658F-E5FF-6005-CA74DDA530EF}"/>
              </a:ext>
            </a:extLst>
          </p:cNvPr>
          <p:cNvSpPr txBox="1"/>
          <p:nvPr/>
        </p:nvSpPr>
        <p:spPr>
          <a:xfrm>
            <a:off x="1756193" y="835869"/>
            <a:ext cx="10252422" cy="5036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b="1" dirty="0"/>
              <a:t>作业结项要求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/>
              <a:t>系统功能完整</a:t>
            </a:r>
            <a:br>
              <a:rPr lang="zh-CN" altLang="en-US" dirty="0"/>
            </a:br>
            <a:r>
              <a:rPr lang="zh-CN" altLang="en-US" dirty="0"/>
              <a:t>完成一个可运行的单细胞 </a:t>
            </a:r>
            <a:r>
              <a:rPr lang="en-US" altLang="zh-CN" dirty="0"/>
              <a:t>ANN </a:t>
            </a:r>
            <a:r>
              <a:rPr lang="zh-CN" altLang="en-US" dirty="0"/>
              <a:t>检索系统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2.</a:t>
            </a:r>
            <a:r>
              <a:rPr lang="zh-CN" altLang="en-US" b="1" dirty="0"/>
              <a:t>条件检索</a:t>
            </a:r>
            <a:br>
              <a:rPr lang="zh-CN" altLang="en-US" dirty="0"/>
            </a:br>
            <a:r>
              <a:rPr lang="zh-CN" altLang="en-US" dirty="0"/>
              <a:t>系统应能根据输入细胞和条件要求（如限定某具体细胞类型）返回 </a:t>
            </a:r>
            <a:r>
              <a:rPr lang="en-US" altLang="zh-CN" dirty="0"/>
              <a:t>Top-K </a:t>
            </a:r>
            <a:r>
              <a:rPr lang="zh-CN" altLang="en-US" dirty="0"/>
              <a:t>相似细胞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3.</a:t>
            </a:r>
            <a:r>
              <a:rPr lang="zh-CN" altLang="en-US" b="1" dirty="0"/>
              <a:t>实验评估</a:t>
            </a:r>
            <a:br>
              <a:rPr lang="zh-CN" altLang="en-US" dirty="0"/>
            </a:br>
            <a:r>
              <a:rPr lang="zh-CN" altLang="en-US" dirty="0"/>
              <a:t>需对系统性能进行分析，包括具体的响应时间等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4.</a:t>
            </a:r>
            <a:r>
              <a:rPr lang="zh-CN" altLang="en-US" b="1" dirty="0"/>
              <a:t>可视化展示</a:t>
            </a:r>
            <a:br>
              <a:rPr lang="zh-CN" altLang="en-US" dirty="0"/>
            </a:br>
            <a:r>
              <a:rPr lang="zh-CN" altLang="en-US" dirty="0"/>
              <a:t>需提供至少一种可视化结果，鼓励提供简单交互方式，例如在可视化结果上直接进行查询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5.</a:t>
            </a:r>
            <a:r>
              <a:rPr lang="zh-CN" altLang="en-US" b="1" dirty="0"/>
              <a:t>数据集管理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dirty="0"/>
              <a:t>系统要求可以进行数据集的管理，增加、删除等，并且同时进行动态的索引管理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5359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CFEB9-B524-C0A8-7C31-2B0CD8AD4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532E3D-76B3-19C6-CF2D-87DD4ED2F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团队作业结项提交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91D7B0-BC19-B468-6455-F3BA21F31112}"/>
              </a:ext>
            </a:extLst>
          </p:cNvPr>
          <p:cNvSpPr txBox="1"/>
          <p:nvPr/>
        </p:nvSpPr>
        <p:spPr>
          <a:xfrm>
            <a:off x="1756193" y="773873"/>
            <a:ext cx="10252422" cy="1712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dirty="0"/>
              <a:t>加分项：</a:t>
            </a: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视完成情况与实现难易程度加分，不完全按照结果给分，鼓励进行尝试</a:t>
            </a:r>
            <a:endParaRPr lang="en-US" altLang="zh-CN" dirty="0"/>
          </a:p>
          <a:p>
            <a:pPr>
              <a:lnSpc>
                <a:spcPct val="150000"/>
              </a:lnSpc>
              <a:buNone/>
            </a:pPr>
            <a:endParaRPr lang="en-US" altLang="zh-CN" dirty="0"/>
          </a:p>
          <a:p>
            <a:pPr>
              <a:lnSpc>
                <a:spcPct val="150000"/>
              </a:lnSpc>
              <a:buNone/>
            </a:pP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071E4A-48BB-2970-A38C-C0A19816D286}"/>
              </a:ext>
            </a:extLst>
          </p:cNvPr>
          <p:cNvSpPr txBox="1"/>
          <p:nvPr/>
        </p:nvSpPr>
        <p:spPr>
          <a:xfrm>
            <a:off x="1756193" y="4127898"/>
            <a:ext cx="8654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kern="100" dirty="0">
                <a:latin typeface="+mn-ea"/>
                <a:cs typeface="Times New Roman" panose="02020603050405020304" pitchFamily="18" charset="0"/>
              </a:rPr>
              <a:t>其他功能</a:t>
            </a:r>
            <a:endParaRPr lang="en-US" altLang="zh-CN" sz="1800" b="1" kern="100" dirty="0">
              <a:latin typeface="+mn-ea"/>
              <a:cs typeface="Times New Roman" panose="02020603050405020304" pitchFamily="18" charset="0"/>
            </a:endParaRPr>
          </a:p>
          <a:p>
            <a:r>
              <a:rPr lang="zh-CN" altLang="en-US" sz="1800" kern="100" dirty="0">
                <a:latin typeface="+mn-ea"/>
                <a:cs typeface="Times New Roman" panose="02020603050405020304" pitchFamily="18" charset="0"/>
              </a:rPr>
              <a:t>基础要求以外的其他功能，视完成情况与实现难易程度加分</a:t>
            </a:r>
            <a:endParaRPr lang="zh-CN" altLang="en-US" dirty="0"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335958-9016-7DC4-9091-D45E61A971A6}"/>
              </a:ext>
            </a:extLst>
          </p:cNvPr>
          <p:cNvSpPr txBox="1"/>
          <p:nvPr/>
        </p:nvSpPr>
        <p:spPr>
          <a:xfrm>
            <a:off x="1596358" y="5313260"/>
            <a:ext cx="6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zh-CN" altLang="en-US" sz="18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加分是在</a:t>
            </a:r>
            <a:r>
              <a:rPr lang="zh-CN" altLang="en-US" sz="1800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总得分</a:t>
            </a:r>
            <a:r>
              <a:rPr lang="zh-CN" altLang="en-US" sz="18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基础上加分，上限两分（每</a:t>
            </a: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人）</a:t>
            </a:r>
            <a:r>
              <a:rPr lang="zh-CN" altLang="en-US" sz="18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E512880-E5BC-ADC4-5D9F-B50ACB053D54}"/>
              </a:ext>
            </a:extLst>
          </p:cNvPr>
          <p:cNvSpPr txBox="1"/>
          <p:nvPr/>
        </p:nvSpPr>
        <p:spPr>
          <a:xfrm>
            <a:off x="1756193" y="2486007"/>
            <a:ext cx="81777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多数据集联合检索</a:t>
            </a:r>
          </a:p>
          <a:p>
            <a:pPr>
              <a:buNone/>
            </a:pPr>
            <a:r>
              <a:rPr lang="zh-CN" altLang="en-US" dirty="0"/>
              <a:t>支持多个单细胞数据集联合建立索引，实现跨数据集细胞搜索。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15EBAF8-9C56-DA1D-58C1-F440509E5930}"/>
              </a:ext>
            </a:extLst>
          </p:cNvPr>
          <p:cNvSpPr txBox="1"/>
          <p:nvPr/>
        </p:nvSpPr>
        <p:spPr>
          <a:xfrm>
            <a:off x="1756193" y="1629940"/>
            <a:ext cx="81777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ANN</a:t>
            </a:r>
            <a:r>
              <a:rPr lang="zh-CN" altLang="en-US" b="1" dirty="0"/>
              <a:t>算法改进</a:t>
            </a:r>
            <a:endParaRPr lang="en-US" altLang="zh-CN" b="1" dirty="0"/>
          </a:p>
          <a:p>
            <a:pPr>
              <a:buNone/>
            </a:pPr>
            <a:r>
              <a:rPr lang="zh-CN" altLang="en-US" dirty="0"/>
              <a:t>对</a:t>
            </a:r>
            <a:r>
              <a:rPr lang="en-US" altLang="zh-CN" dirty="0"/>
              <a:t>ANN</a:t>
            </a:r>
            <a:r>
              <a:rPr lang="zh-CN" altLang="en-US" dirty="0"/>
              <a:t>现有算法进行改进，在检索精度</a:t>
            </a:r>
            <a:r>
              <a:rPr lang="en-US" altLang="zh-CN" dirty="0"/>
              <a:t>/</a:t>
            </a:r>
            <a:r>
              <a:rPr lang="zh-CN" altLang="en-US" dirty="0"/>
              <a:t>查询时间</a:t>
            </a:r>
            <a:r>
              <a:rPr lang="en-US" altLang="zh-CN" dirty="0"/>
              <a:t>/</a:t>
            </a:r>
            <a:r>
              <a:rPr lang="zh-CN" altLang="en-US" dirty="0"/>
              <a:t>内存占用等方面获得改进效果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80175E4-5D9B-1E73-9054-AC9AA65C7574}"/>
              </a:ext>
            </a:extLst>
          </p:cNvPr>
          <p:cNvSpPr txBox="1"/>
          <p:nvPr/>
        </p:nvSpPr>
        <p:spPr>
          <a:xfrm>
            <a:off x="1756193" y="3263679"/>
            <a:ext cx="6097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RAG + </a:t>
            </a:r>
            <a:r>
              <a:rPr lang="zh-CN" altLang="en-US" b="1" dirty="0"/>
              <a:t>单细胞数据库</a:t>
            </a:r>
          </a:p>
          <a:p>
            <a:r>
              <a:rPr lang="zh-CN" altLang="en-US" dirty="0"/>
              <a:t>自然语言查询细胞，</a:t>
            </a:r>
            <a:r>
              <a:rPr lang="en-US" altLang="zh-CN" dirty="0"/>
              <a:t>AI</a:t>
            </a:r>
            <a:r>
              <a:rPr lang="zh-CN" altLang="en-US" dirty="0"/>
              <a:t>辅助细胞分析</a:t>
            </a:r>
          </a:p>
        </p:txBody>
      </p:sp>
    </p:spTree>
    <p:extLst>
      <p:ext uri="{BB962C8B-B14F-4D97-AF65-F5344CB8AC3E}">
        <p14:creationId xmlns:p14="http://schemas.microsoft.com/office/powerpoint/2010/main" val="295586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3FF5D-ECA0-D102-1398-CC65B634F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09B4D4-4F54-04C4-798E-27C03796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团队作业结项提交</a:t>
            </a:r>
          </a:p>
        </p:txBody>
      </p:sp>
      <p:sp>
        <p:nvSpPr>
          <p:cNvPr id="4" name="内容占位符 4">
            <a:extLst>
              <a:ext uri="{FF2B5EF4-FFF2-40B4-BE49-F238E27FC236}">
                <a16:creationId xmlns:a16="http://schemas.microsoft.com/office/drawing/2014/main" id="{47873245-8B3F-682A-AB61-D96643AF755F}"/>
              </a:ext>
            </a:extLst>
          </p:cNvPr>
          <p:cNvSpPr txBox="1">
            <a:spLocks/>
          </p:cNvSpPr>
          <p:nvPr/>
        </p:nvSpPr>
        <p:spPr>
          <a:xfrm>
            <a:off x="1814072" y="785485"/>
            <a:ext cx="4411345" cy="70250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400" b="1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完成软件开发文档</a:t>
            </a:r>
            <a:endParaRPr lang="zh-CN" altLang="zh-CN" sz="2400" kern="10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/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一、项目概述</a:t>
            </a:r>
            <a:endParaRPr lang="en-US" altLang="zh-CN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/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开发背景</a:t>
            </a:r>
            <a:endParaRPr lang="en-US" altLang="zh-CN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/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项目目标</a:t>
            </a:r>
            <a:endParaRPr lang="en-US" altLang="zh-CN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/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开发环境</a:t>
            </a:r>
            <a:endParaRPr lang="en-US" altLang="zh-CN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/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可行性分析</a:t>
            </a:r>
            <a:endParaRPr lang="en-US" altLang="zh-CN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/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项目计划</a:t>
            </a:r>
            <a:endParaRPr lang="en-US" altLang="zh-CN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/>
            <a:endParaRPr lang="en-US" altLang="zh-CN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/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二、需求分析与系统设计</a:t>
            </a:r>
            <a:endParaRPr lang="en-US" altLang="zh-CN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/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需求分析</a:t>
            </a:r>
            <a:endParaRPr lang="en-US" altLang="zh-CN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/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系统设计</a:t>
            </a:r>
            <a:endParaRPr lang="en-US" altLang="zh-CN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/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详细设计</a:t>
            </a:r>
            <a:endParaRPr lang="en-US" altLang="zh-CN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/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数据库设计</a:t>
            </a:r>
            <a:endParaRPr lang="en-US" altLang="zh-CN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/>
            <a:r>
              <a:rPr lang="en-US" altLang="zh-CN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UI</a:t>
            </a:r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设计</a:t>
            </a:r>
            <a:endParaRPr lang="en-US" altLang="zh-CN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>
              <a:buFont typeface="Arial" panose="020B0604020202020204" pitchFamily="34" charset="0"/>
              <a:buNone/>
              <a:defRPr/>
            </a:pPr>
            <a:endParaRPr lang="zh-CN" altLang="en-US" sz="2400" kern="10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endParaRPr lang="zh-CN" altLang="en-US" sz="2400" kern="10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endParaRPr lang="zh-CN" altLang="en-US" sz="2400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8EBE41C-6663-9A22-2A3A-21C86F13696E}"/>
              </a:ext>
            </a:extLst>
          </p:cNvPr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449284" y="1666614"/>
            <a:ext cx="4411345" cy="470789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defTabSz="914400"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三、系统测试</a:t>
            </a:r>
            <a:endParaRPr lang="en-US" altLang="zh-CN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defTabSz="9144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测试环境</a:t>
            </a:r>
            <a:endParaRPr lang="en-US" altLang="zh-CN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defTabSz="9144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功能测试</a:t>
            </a:r>
            <a:endParaRPr lang="en-US" altLang="zh-CN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defTabSz="9144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性能测试</a:t>
            </a:r>
            <a:endParaRPr lang="en-US" altLang="zh-CN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defTabSz="914400">
              <a:buFont typeface="Arial" panose="020B0604020202020204" pitchFamily="34" charset="0"/>
              <a:buChar char="•"/>
              <a:defRPr/>
            </a:pPr>
            <a:endParaRPr lang="en-US" altLang="zh-CN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lvl="0" indent="-285750" defTabSz="914400"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四、项目管理</a:t>
            </a:r>
            <a:endParaRPr lang="en-US" altLang="zh-CN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defTabSz="9144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参与人员及分工</a:t>
            </a:r>
            <a:endParaRPr lang="en-US" altLang="zh-CN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defTabSz="9144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项目进展记录</a:t>
            </a:r>
            <a:endParaRPr lang="en-US" altLang="zh-CN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defTabSz="9144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项目管理工具</a:t>
            </a:r>
            <a:endParaRPr lang="en-US" altLang="zh-CN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defTabSz="914400">
              <a:buFont typeface="Arial" panose="020B0604020202020204" pitchFamily="34" charset="0"/>
              <a:buChar char="•"/>
              <a:defRPr/>
            </a:pPr>
            <a:endParaRPr lang="en-US" altLang="zh-CN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lvl="0" indent="-285750" defTabSz="914400"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五、用户手册</a:t>
            </a:r>
            <a:endParaRPr lang="zh-CN" altLang="en-US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zh-CN" altLang="en-US" sz="2400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zh-CN" altLang="en-US" sz="2400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687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870B8-1310-2487-9428-0AE3A0C26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2AEF65-60D2-490E-39E1-555A7BE9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团队作业结项提交</a:t>
            </a:r>
          </a:p>
        </p:txBody>
      </p:sp>
      <p:sp>
        <p:nvSpPr>
          <p:cNvPr id="3" name="内容占位符 4">
            <a:extLst>
              <a:ext uri="{FF2B5EF4-FFF2-40B4-BE49-F238E27FC236}">
                <a16:creationId xmlns:a16="http://schemas.microsoft.com/office/drawing/2014/main" id="{F5189F38-9E5C-EAF6-CE92-7EC931970584}"/>
              </a:ext>
            </a:extLst>
          </p:cNvPr>
          <p:cNvSpPr txBox="1">
            <a:spLocks/>
          </p:cNvSpPr>
          <p:nvPr/>
        </p:nvSpPr>
        <p:spPr>
          <a:xfrm>
            <a:off x="1756192" y="1029862"/>
            <a:ext cx="10161743" cy="294407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20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组长提交</a:t>
            </a:r>
            <a:r>
              <a:rPr lang="zh-CN" altLang="en-US" sz="2000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源代码、开发文档、演示视频</a:t>
            </a:r>
            <a:r>
              <a:rPr lang="zh-CN" altLang="en-US" sz="20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到指定链接（演示视频无需讲解代码，完整演示功能即可）</a:t>
            </a:r>
          </a:p>
          <a:p>
            <a:pPr indent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zh-CN" sz="20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项目代码提交到</a:t>
            </a:r>
            <a:r>
              <a:rPr lang="en-US" altLang="zh-CN" sz="2000" kern="1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github</a:t>
            </a:r>
            <a:r>
              <a:rPr lang="zh-CN" altLang="en-US" sz="20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，要求</a:t>
            </a:r>
            <a:r>
              <a:rPr lang="zh-CN" altLang="en-US" sz="20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包括完整前后端代码、安装运行说明，建议有足够的代码注释。</a:t>
            </a:r>
            <a:r>
              <a:rPr lang="zh-CN" altLang="en-US" sz="2000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项目链接在项目报告中给出。</a:t>
            </a:r>
          </a:p>
          <a:p>
            <a:pPr indent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20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提交时间截止到</a:t>
            </a:r>
            <a:r>
              <a:rPr lang="en-US" altLang="zh-CN" sz="20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2024</a:t>
            </a:r>
            <a:r>
              <a:rPr lang="zh-CN" altLang="en-US" sz="20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年</a:t>
            </a:r>
            <a:r>
              <a:rPr lang="en-US" altLang="zh-CN" sz="20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7</a:t>
            </a:r>
            <a:r>
              <a:rPr lang="zh-CN" altLang="en-US" sz="20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月</a:t>
            </a:r>
            <a:r>
              <a:rPr lang="en-US" altLang="zh-CN" sz="20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12</a:t>
            </a:r>
            <a:r>
              <a:rPr lang="zh-CN" altLang="en-US" sz="20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日</a:t>
            </a:r>
            <a:r>
              <a:rPr lang="en-US" altLang="zh-CN" sz="20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24</a:t>
            </a:r>
            <a:r>
              <a:rPr lang="zh-CN" altLang="en-US" sz="20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点，如需要提前打分可联系助教。</a:t>
            </a:r>
          </a:p>
        </p:txBody>
      </p:sp>
    </p:spTree>
    <p:extLst>
      <p:ext uri="{BB962C8B-B14F-4D97-AF65-F5344CB8AC3E}">
        <p14:creationId xmlns:p14="http://schemas.microsoft.com/office/powerpoint/2010/main" val="4100770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7B6AD-3987-6FD4-8463-13E75B5B0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6FCFC72-91B3-3743-09CA-615E04771DE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407" y="-747421"/>
            <a:ext cx="6901186" cy="6858000"/>
          </a:xfrm>
          <a:prstGeom prst="rect">
            <a:avLst/>
          </a:prstGeom>
          <a:effectLst/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7748066-BC60-C14E-5A3C-D839250223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6" t="32441" r="100" b="35502"/>
          <a:stretch>
            <a:fillRect/>
          </a:stretch>
        </p:blipFill>
        <p:spPr>
          <a:xfrm>
            <a:off x="0" y="4836159"/>
            <a:ext cx="12191999" cy="2124102"/>
          </a:xfrm>
          <a:prstGeom prst="rect">
            <a:avLst/>
          </a:prstGeom>
        </p:spPr>
      </p:pic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A3EC3BD2-AD71-18D3-881B-435528272B6C}"/>
              </a:ext>
            </a:extLst>
          </p:cNvPr>
          <p:cNvSpPr/>
          <p:nvPr/>
        </p:nvSpPr>
        <p:spPr>
          <a:xfrm>
            <a:off x="-3" y="4836159"/>
            <a:ext cx="12192000" cy="2142423"/>
          </a:xfrm>
          <a:prstGeom prst="rect">
            <a:avLst/>
          </a:prstGeom>
          <a:solidFill>
            <a:srgbClr val="782E6A">
              <a:alpha val="89000"/>
            </a:srgbClr>
          </a:solidFill>
          <a:ln>
            <a:solidFill>
              <a:srgbClr val="782E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61083"/>
              </a:solidFill>
            </a:endParaRPr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560A9D6C-4B5D-2C9E-62B9-E477B967CB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0579" y="150630"/>
            <a:ext cx="4313618" cy="169161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6CF7ADE-A0B5-9372-2944-2FD0413B1593}"/>
              </a:ext>
            </a:extLst>
          </p:cNvPr>
          <p:cNvSpPr txBox="1"/>
          <p:nvPr/>
        </p:nvSpPr>
        <p:spPr>
          <a:xfrm>
            <a:off x="2979532" y="2321004"/>
            <a:ext cx="62329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b="1" dirty="0">
                <a:solidFill>
                  <a:srgbClr val="9610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课程大作业提交</a:t>
            </a:r>
          </a:p>
        </p:txBody>
      </p:sp>
    </p:spTree>
    <p:extLst>
      <p:ext uri="{BB962C8B-B14F-4D97-AF65-F5344CB8AC3E}">
        <p14:creationId xmlns:p14="http://schemas.microsoft.com/office/powerpoint/2010/main" val="84329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MzYzVkZTZkMzEwMjZmMjgwNDIyMzJlY2QxOTNjMT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自定义 2">
      <a:dk1>
        <a:sysClr val="windowText" lastClr="000000"/>
      </a:dk1>
      <a:lt1>
        <a:sysClr val="window" lastClr="FFFFFF"/>
      </a:lt1>
      <a:dk2>
        <a:srgbClr val="6F3B55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1723</TotalTime>
  <Words>1565</Words>
  <Application>Microsoft Office PowerPoint</Application>
  <PresentationFormat>宽屏</PresentationFormat>
  <Paragraphs>175</Paragraphs>
  <Slides>17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 Unicode MS</vt:lpstr>
      <vt:lpstr>等线</vt:lpstr>
      <vt:lpstr>等线 Light</vt:lpstr>
      <vt:lpstr>黑体</vt:lpstr>
      <vt:lpstr>宋体</vt:lpstr>
      <vt:lpstr>微软雅黑</vt:lpstr>
      <vt:lpstr>Arial</vt:lpstr>
      <vt:lpstr>Calibri</vt:lpstr>
      <vt:lpstr>Courier New</vt:lpstr>
      <vt:lpstr>Office 主题​​</vt:lpstr>
      <vt:lpstr>PowerPoint 演示文稿</vt:lpstr>
      <vt:lpstr>软件工程大作业</vt:lpstr>
      <vt:lpstr>背景</vt:lpstr>
      <vt:lpstr>功能模块</vt:lpstr>
      <vt:lpstr>AnnData（.h5ad）</vt:lpstr>
      <vt:lpstr>PowerPoint 演示文稿</vt:lpstr>
      <vt:lpstr>数据处理与降维</vt:lpstr>
      <vt:lpstr>常见 ANN 算法</vt:lpstr>
      <vt:lpstr>ANN 检索库</vt:lpstr>
      <vt:lpstr>开发要求</vt:lpstr>
      <vt:lpstr>团队作业中期提交</vt:lpstr>
      <vt:lpstr>团队作业中期提交</vt:lpstr>
      <vt:lpstr>团队作业结项提交</vt:lpstr>
      <vt:lpstr>团队作业结项提交</vt:lpstr>
      <vt:lpstr>团队作业结项提交</vt:lpstr>
      <vt:lpstr>团队作业结项提交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MLOONG</dc:creator>
  <cp:lastModifiedBy>ke li</cp:lastModifiedBy>
  <cp:revision>283</cp:revision>
  <dcterms:created xsi:type="dcterms:W3CDTF">2019-03-06T05:17:00Z</dcterms:created>
  <dcterms:modified xsi:type="dcterms:W3CDTF">2026-05-18T07:29:05Z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39236BE6139B406A98F7F743764F7133_13</vt:lpwstr>
  </property>
  <property fmtid="{D5CDD505-2E9C-101B-9397-08002B2CF9AE}" pid="3" name="KSOProductBuildVer">
    <vt:lpwstr>2052-12.1.0.16929</vt:lpwstr>
  </property>
</Properties>
</file>